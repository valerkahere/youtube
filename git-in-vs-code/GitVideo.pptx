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Inter"/>
      <p:regular r:id="rId31"/>
      <p:bold r:id="rId32"/>
      <p:italic r:id="rId33"/>
      <p:boldItalic r:id="rId34"/>
    </p:embeddedFont>
    <p:embeddedFont>
      <p:font typeface="Roboto Mon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Inter-italic.fntdata"/><Relationship Id="rId10" Type="http://schemas.openxmlformats.org/officeDocument/2006/relationships/slide" Target="slides/slide5.xml"/><Relationship Id="rId32" Type="http://schemas.openxmlformats.org/officeDocument/2006/relationships/font" Target="fonts/Inter-bold.fntdata"/><Relationship Id="rId13" Type="http://schemas.openxmlformats.org/officeDocument/2006/relationships/slide" Target="slides/slide8.xml"/><Relationship Id="rId35" Type="http://schemas.openxmlformats.org/officeDocument/2006/relationships/font" Target="fonts/RobotoMono-regular.fntdata"/><Relationship Id="rId12" Type="http://schemas.openxmlformats.org/officeDocument/2006/relationships/slide" Target="slides/slide7.xml"/><Relationship Id="rId34" Type="http://schemas.openxmlformats.org/officeDocument/2006/relationships/font" Target="fonts/Inter-boldItalic.fntdata"/><Relationship Id="rId15" Type="http://schemas.openxmlformats.org/officeDocument/2006/relationships/slide" Target="slides/slide10.xml"/><Relationship Id="rId37" Type="http://schemas.openxmlformats.org/officeDocument/2006/relationships/font" Target="fonts/RobotoMono-italic.fntdata"/><Relationship Id="rId14" Type="http://schemas.openxmlformats.org/officeDocument/2006/relationships/slide" Target="slides/slide9.xml"/><Relationship Id="rId36" Type="http://schemas.openxmlformats.org/officeDocument/2006/relationships/font" Target="fonts/RobotoMono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RobotoMono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b32fa1243f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b32fa1243f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32fa1243f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32fa1243f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32fa1243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32fa124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32fa1243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b32fa1243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32fa1243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32fa1243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36cb01d5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b36cb01d5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36cb01d50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b36cb01d50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36cb01d50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b36cb01d50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36cb01d50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b36cb01d50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36cb01d50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b36cb01d50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36cb01d50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b36cb01d50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36cb01d50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36cb01d50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36cb01d50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b36cb01d50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36cb01d50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b36cb01d50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b36cb01d50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b36cb01d5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36cb01d50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b36cb01d50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380e1b26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b380e1b26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b380e1b265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b380e1b26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b380e1b26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b380e1b26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b380e1b26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b380e1b26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b36cb01d50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b36cb01d50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36cb01d50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b36cb01d50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b380e1b265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b380e1b265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b36cb01d50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b36cb01d50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b361a93c8c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b361a93c8c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hyperlink" Target="https://www.youtube.com/@valerkahere" TargetMode="Externa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  <a:defRPr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317700" y="4663225"/>
            <a:ext cx="3780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i="1" lang="en-GB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1"/>
              </a:rPr>
              <a:t>valerkahere</a:t>
            </a:r>
            <a:r>
              <a:rPr i="1"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(CC BY 4.0)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ode.visualstudio.com/download" TargetMode="External"/><Relationship Id="rId4" Type="http://schemas.openxmlformats.org/officeDocument/2006/relationships/hyperlink" Target="https://git-scm.com/install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hyperlink" Target="https://claude.ai/public/artifacts/d9e53f7c-cc59-40b1-a383-6aa58e7b537f?fullscreen=false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claude.ai/public/artifacts/d9e53f7c-cc59-40b1-a383-6aa58e7b537f?fullscreen=false" TargetMode="External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tldp.org/LDP/GNU-Linux-Tools-Summary/html/x11655.htm" TargetMode="External"/><Relationship Id="rId4" Type="http://schemas.openxmlformats.org/officeDocument/2006/relationships/hyperlink" Target="https://tldp.org/LDP/GNU-Linux-Tools-Summary/html/x11655.htm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www.w3schools.com/git/" TargetMode="External"/><Relationship Id="rId4" Type="http://schemas.openxmlformats.org/officeDocument/2006/relationships/hyperlink" Target="https://www.linkedin.com/learning/learning-git-and-github-23011330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</a:t>
            </a:r>
            <a:endParaRPr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Tutorial for Beginners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108900" y="130125"/>
            <a:ext cx="4463100" cy="17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100"/>
              <a:t>@ 2025 Valerii Navalnyi</a:t>
            </a:r>
            <a:endParaRPr i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 sz="1100"/>
              <a:t>This presentation is licensed under the Creative Commons Attribution 4.0 International License (CC BY 4.0).</a:t>
            </a:r>
            <a:endParaRPr i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-GB" sz="1100"/>
              <a:t>The author asserts their moral right to be identified as the author of this work in accordance with Section 107 of the Copyright and Related Rights Act 2000.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Prerequisites</a:t>
            </a:r>
            <a:endParaRPr/>
          </a:p>
        </p:txBody>
      </p:sp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Verify in any terminal with: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--version</a:t>
            </a:r>
            <a:endParaRPr/>
          </a:p>
        </p:txBody>
      </p:sp>
      <p:sp>
        <p:nvSpPr>
          <p:cNvPr id="64" name="Google Shape;64;p1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VS 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 installed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Inter"/>
                <a:ea typeface="Inter"/>
                <a:cs typeface="Inter"/>
                <a:sym typeface="Inter"/>
              </a:rPr>
              <a:t>Video format: 2 ways for each topic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7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CLI way (</a:t>
            </a:r>
            <a:r>
              <a:rPr lang="en-GB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bash</a:t>
            </a: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Inter"/>
              <a:buAutoNum type="arabicPeriod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Visual Interface way (</a:t>
            </a:r>
            <a:r>
              <a:rPr lang="en-GB">
                <a:solidFill>
                  <a:srgbClr val="00FFFF"/>
                </a:solidFill>
                <a:latin typeface="Inter"/>
                <a:ea typeface="Inter"/>
                <a:cs typeface="Inter"/>
                <a:sym typeface="Inter"/>
              </a:rPr>
              <a:t>VS Code</a:t>
            </a: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2838025"/>
            <a:ext cx="8520600" cy="17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Git is a popular version control system.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It was created by Linus Torvalds in 2005, and has been maintained by Junio Hamano since then.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It is used for: </a:t>
            </a:r>
            <a:r>
              <a:rPr b="1"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Tracking code changes, who made changes, collaboration.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206847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Inter"/>
                <a:ea typeface="Inter"/>
                <a:cs typeface="Inter"/>
                <a:sym typeface="Inter"/>
              </a:rPr>
              <a:t>Again, what is </a:t>
            </a:r>
            <a:r>
              <a:rPr lang="en-GB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</a:t>
            </a:r>
            <a:r>
              <a:rPr lang="en-GB">
                <a:latin typeface="Inter"/>
                <a:ea typeface="Inter"/>
                <a:cs typeface="Inter"/>
                <a:sym typeface="Inter"/>
              </a:rPr>
              <a:t>?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Inter"/>
                <a:ea typeface="Inter"/>
                <a:cs typeface="Inter"/>
                <a:sym typeface="Inter"/>
              </a:rPr>
              <a:t>Configuration: </a:t>
            </a:r>
            <a:r>
              <a:rPr lang="en-GB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Config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21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init </a:t>
            </a:r>
            <a:r>
              <a:rPr lang="en-GB"/>
              <a:t>—</a:t>
            </a:r>
            <a:r>
              <a:rPr lang="en-GB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initialize git repository (creates .git folder)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Inter"/>
              <a:buAutoNum type="alphaLcPeriod"/>
            </a:pPr>
            <a:r>
              <a:rPr b="1"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Repository</a:t>
            </a: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A folder where Git tracks your project and its history.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config user.name ‘Your Name’ </a:t>
            </a:r>
            <a:r>
              <a:rPr lang="en-GB"/>
              <a:t>— set your name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GB"/>
              <a:t>What’s the point? You need to t</a:t>
            </a:r>
            <a:r>
              <a:rPr lang="en-GB"/>
              <a:t>ell git who you are (each commit is signed with a name and email) </a:t>
            </a:r>
            <a:r>
              <a:rPr lang="en-GB"/>
              <a:t>— so it’s possible to track who makes changes.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config user.email ‘example@email.com’ </a:t>
            </a:r>
            <a:r>
              <a:rPr lang="en-GB"/>
              <a:t>— set your email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config --list </a:t>
            </a:r>
            <a:r>
              <a:rPr lang="en-GB"/>
              <a:t>— </a:t>
            </a:r>
            <a:r>
              <a:rPr lang="en-GB"/>
              <a:t>to check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253250" y="3405525"/>
            <a:ext cx="8048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400"/>
              <a:t>Note:</a:t>
            </a:r>
            <a:endParaRPr i="1" sz="1400"/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If you enter incorrect value, just write the command again with a new value. The old value is overwritten. 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Use </a:t>
            </a:r>
            <a:r>
              <a:rPr lang="en-GB" sz="14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config</a:t>
            </a:r>
            <a:r>
              <a:rPr lang="en-GB" sz="1400"/>
              <a:t> without </a:t>
            </a:r>
            <a:r>
              <a:rPr lang="en-GB" sz="14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--g</a:t>
            </a:r>
            <a:r>
              <a:rPr lang="en-GB" sz="14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lobal</a:t>
            </a:r>
            <a:r>
              <a:rPr lang="en-GB" sz="1400"/>
              <a:t> option to configure </a:t>
            </a:r>
            <a:r>
              <a:rPr b="1" lang="en-GB" sz="1400"/>
              <a:t>locally —</a:t>
            </a:r>
            <a:r>
              <a:rPr lang="en-GB" sz="1400"/>
              <a:t> </a:t>
            </a:r>
            <a:r>
              <a:rPr b="1" lang="en-GB" sz="1400"/>
              <a:t>in current directory.</a:t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Configuration: </a:t>
            </a:r>
            <a:r>
              <a:rPr lang="en-GB"/>
              <a:t>The same </a:t>
            </a:r>
            <a:r>
              <a:rPr lang="en-GB">
                <a:solidFill>
                  <a:schemeClr val="accent5"/>
                </a:solidFill>
              </a:rPr>
              <a:t>visual </a:t>
            </a:r>
            <a:r>
              <a:rPr lang="en-GB"/>
              <a:t>way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7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Can’t do it through VS Code :)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GB"/>
              <a:t>Need to </a:t>
            </a:r>
            <a:r>
              <a:rPr lang="en-GB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config </a:t>
            </a:r>
            <a:r>
              <a:rPr lang="en-GB"/>
              <a:t>Name and Email manually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2571750"/>
            <a:ext cx="8520600" cy="20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Three levels of configuration scope: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config </a:t>
            </a:r>
            <a:r>
              <a:rPr lang="en-GB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--system </a:t>
            </a:r>
            <a:r>
              <a:rPr lang="en-GB"/>
              <a:t>— </a:t>
            </a:r>
            <a:r>
              <a:rPr lang="en-GB"/>
              <a:t>System (for all users on a device)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config --global</a:t>
            </a:r>
            <a:r>
              <a:rPr lang="en-GB"/>
              <a:t> — </a:t>
            </a:r>
            <a:r>
              <a:rPr lang="en-GB"/>
              <a:t>Global (for current user on a device)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config --local </a:t>
            </a:r>
            <a:r>
              <a:rPr lang="en-GB"/>
              <a:t>— Local (current repo. </a:t>
            </a:r>
            <a:r>
              <a:rPr b="1" lang="en-GB"/>
              <a:t>This is default!</a:t>
            </a:r>
            <a:r>
              <a:rPr lang="en-GB"/>
              <a:t>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/>
              <a:t>Git Environments: </a:t>
            </a:r>
            <a:r>
              <a:rPr lang="en-GB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Staging</a:t>
            </a:r>
            <a:r>
              <a:rPr lang="en-GB"/>
              <a:t>,</a:t>
            </a:r>
            <a:r>
              <a:rPr lang="en-GB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 Git Commit</a:t>
            </a:r>
            <a:r>
              <a:rPr lang="en-GB"/>
              <a:t>  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Working Directory (Changed sth)		⬇️  </a:t>
            </a:r>
            <a:r>
              <a:rPr lang="en-GB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add 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Staging Area (Saved Changes)		</a:t>
            </a:r>
            <a:r>
              <a:rPr lang="en-GB"/>
              <a:t>⬇️</a:t>
            </a:r>
            <a:r>
              <a:rPr lang="en-GB"/>
              <a:t>	</a:t>
            </a:r>
            <a:r>
              <a:rPr lang="en-GB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commit -m ‘Message’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Repository (Clean - no changes)   	✅</a:t>
            </a:r>
            <a:endParaRPr/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675" y="2746676"/>
            <a:ext cx="7684623" cy="19439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136851" y="1391650"/>
            <a:ext cx="400335" cy="935141"/>
          </a:xfrm>
          <a:custGeom>
            <a:rect b="b" l="l" r="r" t="t"/>
            <a:pathLst>
              <a:path extrusionOk="0" h="47146" w="19687">
                <a:moveTo>
                  <a:pt x="19687" y="41736"/>
                </a:moveTo>
                <a:cubicBezTo>
                  <a:pt x="16600" y="44823"/>
                  <a:pt x="10416" y="49165"/>
                  <a:pt x="7329" y="46078"/>
                </a:cubicBezTo>
                <a:cubicBezTo>
                  <a:pt x="3121" y="41870"/>
                  <a:pt x="3276" y="34853"/>
                  <a:pt x="1985" y="29044"/>
                </a:cubicBezTo>
                <a:cubicBezTo>
                  <a:pt x="944" y="24359"/>
                  <a:pt x="-1163" y="18974"/>
                  <a:pt x="983" y="14682"/>
                </a:cubicBezTo>
                <a:cubicBezTo>
                  <a:pt x="2815" y="11018"/>
                  <a:pt x="5924" y="7935"/>
                  <a:pt x="9333" y="5664"/>
                </a:cubicBezTo>
                <a:cubicBezTo>
                  <a:pt x="10300" y="5020"/>
                  <a:pt x="12153" y="3624"/>
                  <a:pt x="12673" y="4663"/>
                </a:cubicBezTo>
                <a:cubicBezTo>
                  <a:pt x="14172" y="7656"/>
                  <a:pt x="3203" y="7297"/>
                  <a:pt x="2653" y="3995"/>
                </a:cubicBezTo>
                <a:cubicBezTo>
                  <a:pt x="2027" y="239"/>
                  <a:pt x="10410" y="-970"/>
                  <a:pt x="13675" y="989"/>
                </a:cubicBezTo>
                <a:cubicBezTo>
                  <a:pt x="17932" y="3543"/>
                  <a:pt x="8665" y="10051"/>
                  <a:pt x="8665" y="15016"/>
                </a:cubicBezTo>
              </a:path>
            </a:pathLst>
          </a:custGeom>
          <a:noFill/>
          <a:ln cap="flat" cmpd="sng" w="3810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95" name="Google Shape;95;p18"/>
          <p:cNvSpPr/>
          <p:nvPr/>
        </p:nvSpPr>
        <p:spPr>
          <a:xfrm rot="10430743">
            <a:off x="4371831" y="1118223"/>
            <a:ext cx="400329" cy="935114"/>
          </a:xfrm>
          <a:custGeom>
            <a:rect b="b" l="l" r="r" t="t"/>
            <a:pathLst>
              <a:path extrusionOk="0" h="47146" w="19687">
                <a:moveTo>
                  <a:pt x="19687" y="41736"/>
                </a:moveTo>
                <a:cubicBezTo>
                  <a:pt x="16600" y="44823"/>
                  <a:pt x="10416" y="49165"/>
                  <a:pt x="7329" y="46078"/>
                </a:cubicBezTo>
                <a:cubicBezTo>
                  <a:pt x="3121" y="41870"/>
                  <a:pt x="3276" y="34853"/>
                  <a:pt x="1985" y="29044"/>
                </a:cubicBezTo>
                <a:cubicBezTo>
                  <a:pt x="944" y="24359"/>
                  <a:pt x="-1163" y="18974"/>
                  <a:pt x="983" y="14682"/>
                </a:cubicBezTo>
                <a:cubicBezTo>
                  <a:pt x="2815" y="11018"/>
                  <a:pt x="5924" y="7935"/>
                  <a:pt x="9333" y="5664"/>
                </a:cubicBezTo>
                <a:cubicBezTo>
                  <a:pt x="10300" y="5020"/>
                  <a:pt x="12153" y="3624"/>
                  <a:pt x="12673" y="4663"/>
                </a:cubicBezTo>
                <a:cubicBezTo>
                  <a:pt x="14172" y="7656"/>
                  <a:pt x="3203" y="7297"/>
                  <a:pt x="2653" y="3995"/>
                </a:cubicBezTo>
                <a:cubicBezTo>
                  <a:pt x="2027" y="239"/>
                  <a:pt x="10410" y="-970"/>
                  <a:pt x="13675" y="989"/>
                </a:cubicBezTo>
                <a:cubicBezTo>
                  <a:pt x="17932" y="3543"/>
                  <a:pt x="8665" y="10051"/>
                  <a:pt x="8665" y="15016"/>
                </a:cubicBezTo>
              </a:path>
            </a:pathLst>
          </a:custGeom>
          <a:noFill/>
          <a:ln cap="flat" cmpd="sng" w="3810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96" name="Google Shape;96;p18"/>
          <p:cNvSpPr txBox="1"/>
          <p:nvPr>
            <p:ph type="title"/>
          </p:nvPr>
        </p:nvSpPr>
        <p:spPr>
          <a:xfrm>
            <a:off x="766825" y="2383350"/>
            <a:ext cx="22944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400" u="sng">
                <a:solidFill>
                  <a:schemeClr val="hlink"/>
                </a:solidFill>
                <a:hlinkClick r:id="rId4"/>
              </a:rPr>
              <a:t>Source of the image</a:t>
            </a:r>
            <a:endParaRPr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202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/>
              <a:t>So, what is </a:t>
            </a:r>
            <a:r>
              <a:rPr lang="en-GB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Staging (Index)</a:t>
            </a:r>
            <a:r>
              <a:rPr lang="en-GB"/>
              <a:t>?</a:t>
            </a:r>
            <a:endParaRPr/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848900"/>
            <a:ext cx="8324700" cy="41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Staging </a:t>
            </a:r>
            <a:r>
              <a:rPr lang="en-GB" sz="1700"/>
              <a:t>— is like </a:t>
            </a:r>
            <a:r>
              <a:rPr b="1" lang="en-GB" sz="1700"/>
              <a:t>dating</a:t>
            </a:r>
            <a:r>
              <a:rPr lang="en-GB" sz="1700"/>
              <a:t>.</a:t>
            </a:r>
            <a:endParaRPr sz="1700"/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Before we merry, we date :)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Staging is like a waiting room for your changes.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Git tracks any changes you make to your project by default. But only the chosen (staged) changes are saved. </a:t>
            </a:r>
            <a:r>
              <a:rPr b="1" lang="en-GB" sz="1700"/>
              <a:t>New files are untracked unless committed.</a:t>
            </a:r>
            <a:endParaRPr b="1"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The main point here is that you </a:t>
            </a:r>
            <a:r>
              <a:rPr b="1" lang="en-GB" sz="1700"/>
              <a:t>don’t have to include all of your changes in your next Commit</a:t>
            </a:r>
            <a:r>
              <a:rPr lang="en-GB" sz="1700"/>
              <a:t>. At this stage you tell Git </a:t>
            </a:r>
            <a:r>
              <a:rPr b="1" lang="en-GB" sz="1700"/>
              <a:t>what exactly you want to include in your next saved state</a:t>
            </a:r>
            <a:r>
              <a:rPr lang="en-GB" sz="1700"/>
              <a:t> of the project (</a:t>
            </a:r>
            <a:r>
              <a:rPr lang="en-GB" sz="17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Commit</a:t>
            </a:r>
            <a:r>
              <a:rPr lang="en-GB" sz="1700"/>
              <a:t>) — and this is </a:t>
            </a:r>
            <a:r>
              <a:rPr lang="en-GB" sz="17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Staging</a:t>
            </a:r>
            <a:r>
              <a:rPr lang="en-GB" sz="1700"/>
              <a:t>.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=&gt; This gives you control over what goes into your project history.</a:t>
            </a:r>
            <a:endParaRPr sz="1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Staging</a:t>
            </a:r>
            <a:r>
              <a:rPr lang="en-GB"/>
              <a:t>:</a:t>
            </a:r>
            <a:r>
              <a:rPr lang="en-GB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/>
              <a:t>Key commands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/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311700" y="1152475"/>
            <a:ext cx="8324700" cy="21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Roboto Mono"/>
              <a:buChar char="●"/>
            </a:pPr>
            <a:r>
              <a:rPr lang="en-GB" sz="18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add &lt;file&gt;</a:t>
            </a:r>
            <a:r>
              <a:rPr lang="en-GB" sz="1800"/>
              <a:t> — Add a file to Staging environment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Roboto Mono"/>
              <a:buChar char="●"/>
            </a:pPr>
            <a:r>
              <a:rPr lang="en-GB" sz="18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add . </a:t>
            </a:r>
            <a:r>
              <a:rPr lang="en-GB" sz="1800"/>
              <a:t> — Add all files </a:t>
            </a:r>
            <a:r>
              <a:rPr b="1" lang="en-GB" sz="1800"/>
              <a:t>in current folder</a:t>
            </a:r>
            <a:r>
              <a:rPr lang="en-GB" sz="1800"/>
              <a:t> to Staging environment</a:t>
            </a:r>
            <a:endParaRPr sz="1800"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Roboto Mono"/>
              <a:buChar char="●"/>
            </a:pPr>
            <a:r>
              <a:rPr lang="en-GB" sz="18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add </a:t>
            </a:r>
            <a:r>
              <a:rPr lang="en-GB" sz="18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--all </a:t>
            </a:r>
            <a:r>
              <a:rPr lang="en-GB" sz="1800"/>
              <a:t>OR </a:t>
            </a:r>
            <a:r>
              <a:rPr lang="en-GB" sz="18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add -A </a:t>
            </a:r>
            <a:r>
              <a:rPr lang="en-GB" sz="1800"/>
              <a:t>— Add all files</a:t>
            </a:r>
            <a:endParaRPr b="1" sz="1800"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Roboto Mono"/>
              <a:buChar char="●"/>
            </a:pPr>
            <a:r>
              <a:rPr lang="en-GB" sz="18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restore --staged &lt;file&gt; </a:t>
            </a:r>
            <a:r>
              <a:rPr lang="en-GB" sz="1800"/>
              <a:t>— Unstage a file</a:t>
            </a:r>
            <a:endParaRPr sz="1800"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9" name="Google Shape;109;p20"/>
          <p:cNvSpPr txBox="1"/>
          <p:nvPr/>
        </p:nvSpPr>
        <p:spPr>
          <a:xfrm>
            <a:off x="4854925" y="2853850"/>
            <a:ext cx="43773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status</a:t>
            </a:r>
            <a:endParaRPr sz="2000"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See what’s going on</a:t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Note: To exit the git outputs,</a:t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press Q.</a:t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" name="Google Shape;110;p20"/>
          <p:cNvSpPr txBox="1"/>
          <p:nvPr/>
        </p:nvSpPr>
        <p:spPr>
          <a:xfrm>
            <a:off x="194775" y="2853858"/>
            <a:ext cx="48609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log</a:t>
            </a:r>
            <a:endParaRPr sz="2000"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See commit history</a:t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log --oneline</a:t>
            </a:r>
            <a:endParaRPr sz="2000"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See commit history (Simplified View</a:t>
            </a:r>
            <a:endParaRPr sz="2000"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/>
              <a:t>So, what is </a:t>
            </a:r>
            <a:r>
              <a:rPr lang="en-GB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Commit</a:t>
            </a:r>
            <a:r>
              <a:rPr lang="en-GB"/>
              <a:t>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311700" y="1152475"/>
            <a:ext cx="8324700" cy="38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Commit </a:t>
            </a:r>
            <a:r>
              <a:rPr lang="en-GB" sz="1700"/>
              <a:t>— is like </a:t>
            </a:r>
            <a:r>
              <a:rPr b="1" lang="en-GB" sz="1700"/>
              <a:t>marriage</a:t>
            </a:r>
            <a:r>
              <a:rPr lang="en-GB" sz="1700"/>
              <a:t>.</a:t>
            </a:r>
            <a:endParaRPr sz="1700"/>
          </a:p>
          <a:p>
            <a:pPr indent="45720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Now that you’re sure, you can marry and settle down — s</a:t>
            </a:r>
            <a:r>
              <a:rPr b="1" lang="en-GB" sz="1700"/>
              <a:t>afely save that state of your project.</a:t>
            </a:r>
            <a:endParaRPr b="1" sz="1700"/>
          </a:p>
          <a:p>
            <a:pPr indent="45720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It’s a save point / checkpoint / snapshot / saved state of your project.</a:t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It records </a:t>
            </a:r>
            <a:r>
              <a:rPr b="1" lang="en-GB" sz="1700"/>
              <a:t>the state </a:t>
            </a:r>
            <a:r>
              <a:rPr lang="en-GB" sz="1700"/>
              <a:t>of your files at a certain time, with a message describing the changes made. </a:t>
            </a:r>
            <a:endParaRPr sz="1700"/>
          </a:p>
          <a:p>
            <a:pPr indent="-3365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-GB" sz="1700"/>
              <a:t>Remember:</a:t>
            </a:r>
            <a:r>
              <a:rPr lang="en-GB" sz="1700"/>
              <a:t> Git doesn’t save the file themselves! Only the changes made.</a:t>
            </a:r>
            <a:endParaRPr sz="1700"/>
          </a:p>
          <a:p>
            <a:pPr indent="-3365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You can always go back to a previous </a:t>
            </a:r>
            <a:r>
              <a:rPr lang="en-GB" sz="17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commit </a:t>
            </a:r>
            <a:r>
              <a:rPr lang="en-GB" sz="1700"/>
              <a:t>if you need to.</a:t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The main thing here is like with functions:</a:t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1 </a:t>
            </a:r>
            <a:r>
              <a:rPr lang="en-GB" sz="17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commit </a:t>
            </a:r>
            <a:r>
              <a:rPr lang="en-GB" sz="1700"/>
              <a:t>is 1 </a:t>
            </a:r>
            <a:r>
              <a:rPr b="1" lang="en-GB" sz="1700"/>
              <a:t>good change </a:t>
            </a:r>
            <a:r>
              <a:rPr lang="en-GB" sz="1700"/>
              <a:t>to the project </a:t>
            </a:r>
            <a:endParaRPr sz="1700"/>
          </a:p>
        </p:txBody>
      </p:sp>
      <p:sp>
        <p:nvSpPr>
          <p:cNvPr id="117" name="Google Shape;117;p21"/>
          <p:cNvSpPr txBox="1"/>
          <p:nvPr/>
        </p:nvSpPr>
        <p:spPr>
          <a:xfrm>
            <a:off x="5277825" y="3688125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(Functions do 1 thing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and do it well)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Commit</a:t>
            </a:r>
            <a:r>
              <a:rPr lang="en-GB"/>
              <a:t>:</a:t>
            </a:r>
            <a:r>
              <a:rPr lang="en-GB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/>
              <a:t>Key commands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/>
          </a:p>
        </p:txBody>
      </p:sp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311700" y="1152475"/>
            <a:ext cx="8324700" cy="3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Roboto Mono"/>
              <a:buChar char="●"/>
            </a:pPr>
            <a:r>
              <a:rPr lang="en-GB" sz="17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commit -m ‘Message’ </a:t>
            </a:r>
            <a:r>
              <a:rPr lang="en-GB" sz="1700"/>
              <a:t>— Commit staged changes with a message.</a:t>
            </a:r>
            <a:endParaRPr sz="1700"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Roboto Mono"/>
              <a:buChar char="●"/>
            </a:pPr>
            <a:r>
              <a:rPr lang="en-GB" sz="17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commit </a:t>
            </a:r>
            <a:r>
              <a:rPr lang="en-GB" sz="1700"/>
              <a:t>— if you don’t provide </a:t>
            </a:r>
            <a:r>
              <a:rPr lang="en-GB" sz="17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-m </a:t>
            </a:r>
            <a:r>
              <a:rPr lang="en-GB" sz="1700"/>
              <a:t>option, Git opens VS Code’s built-in text-editor. Add you message there, close the editor, and </a:t>
            </a:r>
            <a:r>
              <a:rPr b="1" lang="en-GB" sz="1700"/>
              <a:t>commit will be made</a:t>
            </a:r>
            <a:r>
              <a:rPr lang="en-GB" sz="1700"/>
              <a:t>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/>
              <a:t>Note: </a:t>
            </a:r>
            <a:r>
              <a:rPr lang="en-GB" sz="1700"/>
              <a:t>If you don’t provide a message to your commit — it will be </a:t>
            </a:r>
            <a:r>
              <a:rPr b="1" lang="en-GB" sz="1700"/>
              <a:t>aborted</a:t>
            </a:r>
            <a:r>
              <a:rPr lang="en-GB" sz="1700"/>
              <a:t> (discarded).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Keep first line short, under 50 characters (VS Code will </a:t>
            </a:r>
            <a:r>
              <a:rPr lang="en-GB" sz="1700">
                <a:solidFill>
                  <a:srgbClr val="FF0000"/>
                </a:solidFill>
              </a:rPr>
              <a:t>prompt with red highlight</a:t>
            </a:r>
            <a:r>
              <a:rPr lang="en-GB" sz="1700"/>
              <a:t>)</a:t>
            </a:r>
            <a:endParaRPr sz="1700"/>
          </a:p>
        </p:txBody>
      </p:sp>
      <p:sp>
        <p:nvSpPr>
          <p:cNvPr id="124" name="Google Shape;124;p22"/>
          <p:cNvSpPr txBox="1"/>
          <p:nvPr/>
        </p:nvSpPr>
        <p:spPr>
          <a:xfrm>
            <a:off x="0" y="3756258"/>
            <a:ext cx="4860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status</a:t>
            </a:r>
            <a:endParaRPr sz="2000"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See what’s going on (&amp; branch)</a:t>
            </a:r>
            <a:endParaRPr sz="2000"/>
          </a:p>
        </p:txBody>
      </p:sp>
      <p:sp>
        <p:nvSpPr>
          <p:cNvPr id="125" name="Google Shape;125;p22"/>
          <p:cNvSpPr txBox="1"/>
          <p:nvPr/>
        </p:nvSpPr>
        <p:spPr>
          <a:xfrm>
            <a:off x="4283100" y="3756258"/>
            <a:ext cx="4860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log</a:t>
            </a:r>
            <a:endParaRPr sz="2000"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See commit history</a:t>
            </a:r>
            <a:endParaRPr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Commit</a:t>
            </a:r>
            <a:r>
              <a:rPr lang="en-GB"/>
              <a:t>:</a:t>
            </a:r>
            <a:r>
              <a:rPr lang="en-GB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/>
              <a:t>How to write Commit messages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/>
          </a:p>
        </p:txBody>
      </p: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311700" y="1152475"/>
            <a:ext cx="8324700" cy="17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Rule of thumb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When writing a commit message, ask: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Does this sentence work after “</a:t>
            </a:r>
            <a:r>
              <a:rPr b="1" lang="en-GB" sz="18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This commit will</a:t>
            </a:r>
            <a:r>
              <a:rPr b="1" lang="en-GB" sz="1800"/>
              <a:t>…”?</a:t>
            </a:r>
            <a:endParaRPr b="1"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Examples:</a:t>
            </a:r>
            <a:endParaRPr sz="1800"/>
          </a:p>
        </p:txBody>
      </p:sp>
      <p:sp>
        <p:nvSpPr>
          <p:cNvPr id="132" name="Google Shape;132;p23"/>
          <p:cNvSpPr txBox="1"/>
          <p:nvPr/>
        </p:nvSpPr>
        <p:spPr>
          <a:xfrm>
            <a:off x="0" y="3284233"/>
            <a:ext cx="48609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Added user login</a:t>
            </a:r>
            <a:endParaRPr sz="2000"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Fixes bug in navbar</a:t>
            </a:r>
            <a:endParaRPr sz="2000"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I refactored auth logic</a:t>
            </a:r>
            <a:endParaRPr sz="2000"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33" name="Google Shape;133;p23"/>
          <p:cNvSpPr txBox="1"/>
          <p:nvPr/>
        </p:nvSpPr>
        <p:spPr>
          <a:xfrm>
            <a:off x="4283100" y="3284233"/>
            <a:ext cx="48609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Add user login</a:t>
            </a:r>
            <a:endParaRPr sz="2000"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Fix navbar overflow on mobile</a:t>
            </a:r>
            <a:endParaRPr sz="2000"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Refactor authentication logic</a:t>
            </a:r>
            <a:endParaRPr sz="2000"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34" name="Google Shape;134;p23"/>
          <p:cNvSpPr txBox="1"/>
          <p:nvPr/>
        </p:nvSpPr>
        <p:spPr>
          <a:xfrm>
            <a:off x="6212275" y="2822525"/>
            <a:ext cx="130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✅ </a:t>
            </a: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good</a:t>
            </a:r>
            <a:endParaRPr sz="1800"/>
          </a:p>
        </p:txBody>
      </p:sp>
      <p:sp>
        <p:nvSpPr>
          <p:cNvPr id="135" name="Google Shape;135;p23"/>
          <p:cNvSpPr txBox="1"/>
          <p:nvPr/>
        </p:nvSpPr>
        <p:spPr>
          <a:xfrm>
            <a:off x="1882200" y="2822525"/>
            <a:ext cx="109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❌ b</a:t>
            </a: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ad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Commit</a:t>
            </a:r>
            <a:r>
              <a:rPr lang="en-GB"/>
              <a:t>:</a:t>
            </a:r>
            <a:r>
              <a:rPr lang="en-GB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/>
              <a:t>Why imperative?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/>
          </a:p>
        </p:txBody>
      </p:sp>
      <p:sp>
        <p:nvSpPr>
          <p:cNvPr id="141" name="Google Shape;141;p24"/>
          <p:cNvSpPr txBox="1"/>
          <p:nvPr>
            <p:ph idx="1" type="body"/>
          </p:nvPr>
        </p:nvSpPr>
        <p:spPr>
          <a:xfrm>
            <a:off x="311700" y="1152475"/>
            <a:ext cx="8324700" cy="31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b="1" lang="en-GB" sz="1700"/>
              <a:t>Consistency with Git’s own output</a:t>
            </a:r>
            <a:endParaRPr b="1" sz="17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GB" sz="1700"/>
              <a:t>Git uses imperative mood everywhere: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Roboto Mono"/>
              <a:buChar char="●"/>
            </a:pPr>
            <a:r>
              <a:rPr lang="en-GB" sz="17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Merge branch ‘main’</a:t>
            </a:r>
            <a:endParaRPr sz="1700"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Roboto Mono"/>
              <a:buChar char="●"/>
            </a:pPr>
            <a:r>
              <a:rPr lang="en-GB" sz="17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Revert ‘Fix memory leak’</a:t>
            </a:r>
            <a:endParaRPr sz="1700"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Roboto Mono"/>
              <a:buChar char="●"/>
            </a:pPr>
            <a:r>
              <a:rPr lang="en-GB" sz="17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Update README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GB" sz="1700"/>
              <a:t>Your commits blend naturally into Git history when you follow the same style.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n-GB" sz="1700"/>
              <a:t>2. Clear, action-oriented meaning</a:t>
            </a:r>
            <a:endParaRPr b="1"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GB" sz="1700"/>
              <a:t>Imperative mood answers the question: “</a:t>
            </a:r>
            <a:r>
              <a:rPr b="1" lang="en-GB" sz="1700"/>
              <a:t>What does this commit do</a:t>
            </a:r>
            <a:r>
              <a:rPr lang="en-GB" sz="1700"/>
              <a:t>?”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Add authentication; Fix navbar; Remove deprecated API etc…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Commit</a:t>
            </a:r>
            <a:r>
              <a:rPr lang="en-GB"/>
              <a:t>:</a:t>
            </a:r>
            <a:r>
              <a:rPr lang="en-GB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/>
              <a:t>Forgot to add something? Made a typo?</a:t>
            </a:r>
            <a:endParaRPr/>
          </a:p>
        </p:txBody>
      </p:sp>
      <p:sp>
        <p:nvSpPr>
          <p:cNvPr id="147" name="Google Shape;147;p25"/>
          <p:cNvSpPr txBox="1"/>
          <p:nvPr>
            <p:ph idx="1" type="body"/>
          </p:nvPr>
        </p:nvSpPr>
        <p:spPr>
          <a:xfrm>
            <a:off x="311700" y="1499250"/>
            <a:ext cx="8324700" cy="21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Roboto Mono"/>
              <a:buChar char="●"/>
            </a:pPr>
            <a:r>
              <a:rPr lang="en-GB" sz="18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commit --amend -m "Corrected message" </a:t>
            </a:r>
            <a:r>
              <a:rPr lang="en-GB" sz="1800"/>
              <a:t>— Fix the last commit message/ add different files/ changes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Roboto Mono"/>
              <a:buChar char="●"/>
            </a:pPr>
            <a:r>
              <a:rPr lang="en-GB" sz="18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reset --soft HEAD~1 </a:t>
            </a:r>
            <a:r>
              <a:rPr lang="en-GB" sz="1800"/>
              <a:t>\ </a:t>
            </a:r>
            <a:r>
              <a:rPr lang="en-GB" sz="18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 HEAD^ </a:t>
            </a:r>
            <a:r>
              <a:rPr lang="en-GB" sz="1800"/>
              <a:t>— undo the last </a:t>
            </a:r>
            <a:r>
              <a:rPr lang="en-GB" sz="18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commit </a:t>
            </a:r>
            <a:r>
              <a:rPr lang="en-GB" sz="1800"/>
              <a:t>and keep your changes staged.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Roboto Mono"/>
              <a:buChar char="●"/>
            </a:pPr>
            <a:r>
              <a:rPr lang="en-GB" sz="18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HEAD Pointer </a:t>
            </a:r>
            <a:r>
              <a:rPr lang="en-GB" sz="1800"/>
              <a:t>— Git maintains a variable for referencing, called HEAD: it points to the latest </a:t>
            </a:r>
            <a:r>
              <a:rPr lang="en-GB" sz="18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commit </a:t>
            </a:r>
            <a:r>
              <a:rPr lang="en-GB" sz="1800"/>
              <a:t>and </a:t>
            </a:r>
            <a:r>
              <a:rPr lang="en-GB" sz="18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branch</a:t>
            </a:r>
            <a:endParaRPr sz="1800"/>
          </a:p>
        </p:txBody>
      </p:sp>
      <p:sp>
        <p:nvSpPr>
          <p:cNvPr id="148" name="Google Shape;148;p25"/>
          <p:cNvSpPr txBox="1"/>
          <p:nvPr/>
        </p:nvSpPr>
        <p:spPr>
          <a:xfrm>
            <a:off x="33400" y="3787558"/>
            <a:ext cx="4860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status</a:t>
            </a:r>
            <a:endParaRPr sz="2000"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See what’s going on</a:t>
            </a:r>
            <a:endParaRPr sz="2000"/>
          </a:p>
        </p:txBody>
      </p:sp>
      <p:sp>
        <p:nvSpPr>
          <p:cNvPr id="149" name="Google Shape;149;p25"/>
          <p:cNvSpPr txBox="1"/>
          <p:nvPr/>
        </p:nvSpPr>
        <p:spPr>
          <a:xfrm>
            <a:off x="4316500" y="3787558"/>
            <a:ext cx="4860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log </a:t>
            </a:r>
            <a:r>
              <a:rPr b="1" lang="en-GB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(</a:t>
            </a:r>
            <a:r>
              <a:rPr lang="en-GB" sz="20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--oneline</a:t>
            </a:r>
            <a:r>
              <a:rPr b="1" lang="en-GB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See commit history</a:t>
            </a:r>
            <a:endParaRPr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/>
          <p:nvPr>
            <p:ph type="title"/>
          </p:nvPr>
        </p:nvSpPr>
        <p:spPr>
          <a:xfrm>
            <a:off x="311700" y="361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ighlight>
                  <a:srgbClr val="1E1E1E"/>
                </a:highlight>
                <a:hlinkClick r:id="rId3"/>
              </a:rPr>
              <a:t>VS Code Git Status Indicators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/>
          </a:p>
        </p:txBody>
      </p:sp>
      <p:pic>
        <p:nvPicPr>
          <p:cNvPr id="155" name="Google Shape;15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9988" y="1035375"/>
            <a:ext cx="7264026" cy="3685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n-GB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.gitignore</a:t>
            </a:r>
            <a:endParaRPr/>
          </a:p>
        </p:txBody>
      </p:sp>
      <p:sp>
        <p:nvSpPr>
          <p:cNvPr id="161" name="Google Shape;161;p27"/>
          <p:cNvSpPr txBox="1"/>
          <p:nvPr>
            <p:ph idx="1" type="body"/>
          </p:nvPr>
        </p:nvSpPr>
        <p:spPr>
          <a:xfrm>
            <a:off x="311700" y="1152475"/>
            <a:ext cx="5175300" cy="38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Sometimes we don’t want git to track certain files. This might include: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vscode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node_modules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personal files like (to-do; notes)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-GB">
                <a:solidFill>
                  <a:schemeClr val="accent5"/>
                </a:solidFill>
              </a:rPr>
              <a:t>IMPORTANT</a:t>
            </a:r>
            <a:r>
              <a:rPr b="1" lang="en-GB"/>
              <a:t>: </a:t>
            </a:r>
            <a:r>
              <a:rPr lang="en-GB"/>
              <a:t>Create </a:t>
            </a:r>
            <a:r>
              <a:rPr lang="en-GB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.gitignore </a:t>
            </a:r>
            <a:r>
              <a:rPr lang="en-GB"/>
              <a:t>at the</a:t>
            </a:r>
            <a:r>
              <a:rPr b="1" lang="en-GB"/>
              <a:t> start of the project!</a:t>
            </a:r>
            <a:r>
              <a:rPr lang="en-GB"/>
              <a:t> If files are ignored later, they </a:t>
            </a:r>
            <a:r>
              <a:rPr b="1" lang="en-GB"/>
              <a:t>can still be viewed in older commits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7"/>
          <p:cNvSpPr txBox="1"/>
          <p:nvPr/>
        </p:nvSpPr>
        <p:spPr>
          <a:xfrm>
            <a:off x="5535600" y="1152467"/>
            <a:ext cx="3296700" cy="3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Syntax: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-GB" sz="18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# </a:t>
            </a: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— These are comments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-GB" sz="18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* </a:t>
            </a: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— “Match any character any amount of times”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=&gt; </a:t>
            </a:r>
            <a:r>
              <a:rPr b="1" lang="en-GB" sz="1800" u="sng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bash wildcards </a:t>
            </a:r>
            <a:r>
              <a:rPr b="1" lang="en-GB" sz="1800" u="sng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apply!</a:t>
            </a:r>
            <a:endParaRPr b="1"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There are numerous .gitignore templates online.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Branches</a:t>
            </a:r>
            <a:r>
              <a:rPr lang="en-GB"/>
              <a:t>:</a:t>
            </a:r>
            <a:r>
              <a:rPr lang="en-GB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/>
              <a:t>Different Project “Versions” </a:t>
            </a:r>
            <a:endParaRPr/>
          </a:p>
        </p:txBody>
      </p:sp>
      <p:sp>
        <p:nvSpPr>
          <p:cNvPr id="168" name="Google Shape;168;p28"/>
          <p:cNvSpPr txBox="1"/>
          <p:nvPr>
            <p:ph idx="1" type="body"/>
          </p:nvPr>
        </p:nvSpPr>
        <p:spPr>
          <a:xfrm>
            <a:off x="311700" y="1188975"/>
            <a:ext cx="8324700" cy="36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</a:t>
            </a:r>
            <a:r>
              <a:rPr lang="en-GB" sz="1800"/>
              <a:t>hese</a:t>
            </a:r>
            <a:r>
              <a:rPr lang="en-GB" sz="1800"/>
              <a:t> are different versions of the project. Typically, we have: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Roboto Mono"/>
              <a:buChar char="●"/>
            </a:pPr>
            <a:r>
              <a:rPr lang="en-GB" sz="18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main</a:t>
            </a:r>
            <a:r>
              <a:rPr lang="en-GB" sz="1800"/>
              <a:t>/</a:t>
            </a:r>
            <a:r>
              <a:rPr lang="en-GB" sz="18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master</a:t>
            </a:r>
            <a:r>
              <a:rPr lang="en-GB" sz="18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800"/>
              <a:t>: Where production lives (e.g., the branch linked to the website hosting).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Roboto Mono"/>
              <a:buChar char="●"/>
            </a:pPr>
            <a:r>
              <a:rPr lang="en-GB" sz="18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dev</a:t>
            </a:r>
            <a:r>
              <a:rPr lang="en-GB" sz="1800"/>
              <a:t>: The branch where all development happens (it moves a</a:t>
            </a:r>
            <a:r>
              <a:rPr lang="en-GB" sz="18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head</a:t>
            </a:r>
            <a:r>
              <a:rPr lang="en-GB" sz="28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800"/>
              <a:t>of Main, and then is  </a:t>
            </a:r>
            <a:r>
              <a:rPr lang="en-GB" sz="18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merged </a:t>
            </a:r>
            <a:r>
              <a:rPr lang="en-GB" sz="1800"/>
              <a:t>into </a:t>
            </a:r>
            <a:r>
              <a:rPr lang="en-GB" sz="18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main</a:t>
            </a:r>
            <a:r>
              <a:rPr lang="en-GB" sz="1800"/>
              <a:t>).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We don’t want colonial vibes, so let’s stick with </a:t>
            </a:r>
            <a:r>
              <a:rPr lang="en-GB" sz="1800" strike="sngStrike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master</a:t>
            </a:r>
            <a:r>
              <a:rPr lang="en-GB"/>
              <a:t>  </a:t>
            </a:r>
            <a:r>
              <a:rPr lang="en-GB" sz="18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main</a:t>
            </a:r>
            <a:r>
              <a:rPr lang="en-GB" sz="1800"/>
              <a:t>. This command will rename you branch name to </a:t>
            </a:r>
            <a:r>
              <a:rPr lang="en-GB" sz="18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main</a:t>
            </a:r>
            <a:r>
              <a:rPr lang="en-GB" sz="1800"/>
              <a:t>: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Roboto Mono"/>
              <a:buChar char="●"/>
            </a:pPr>
            <a:r>
              <a:rPr lang="en-GB" sz="18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branch -m &lt;name&gt;</a:t>
            </a:r>
            <a:endParaRPr sz="1800"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Roboto Mono"/>
              <a:buChar char="●"/>
            </a:pPr>
            <a:r>
              <a:rPr lang="en-GB" sz="18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branch -m main</a:t>
            </a:r>
            <a:endParaRPr sz="1800"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Branches</a:t>
            </a:r>
            <a:r>
              <a:rPr lang="en-GB"/>
              <a:t>:</a:t>
            </a:r>
            <a:r>
              <a:rPr lang="en-GB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/>
              <a:t>Why?</a:t>
            </a:r>
            <a:endParaRPr/>
          </a:p>
        </p:txBody>
      </p:sp>
      <p:sp>
        <p:nvSpPr>
          <p:cNvPr id="174" name="Google Shape;174;p29"/>
          <p:cNvSpPr txBox="1"/>
          <p:nvPr>
            <p:ph idx="1" type="body"/>
          </p:nvPr>
        </p:nvSpPr>
        <p:spPr>
          <a:xfrm>
            <a:off x="311700" y="1188975"/>
            <a:ext cx="8324700" cy="266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sz="1800"/>
              <a:t>You’re not scared to break anything in production: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-GB" sz="1800"/>
              <a:t>Pushed a commit - and suddenly build </a:t>
            </a:r>
            <a:r>
              <a:rPr lang="en-GB" sz="1800"/>
              <a:t>fails</a:t>
            </a:r>
            <a:r>
              <a:rPr lang="en-GB" sz="1800"/>
              <a:t>, the site stopped responding.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sz="1800"/>
              <a:t>Feeling free to experiment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sz="1800"/>
              <a:t>You can keep different version of your projects, for example: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-GB" sz="18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branch1</a:t>
            </a:r>
            <a:r>
              <a:rPr lang="en-GB" sz="1800"/>
              <a:t>: One with HTML and CSS.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-GB" sz="18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branch2</a:t>
            </a:r>
            <a:r>
              <a:rPr lang="en-GB" sz="1800"/>
              <a:t>: Same but rebuilt with Bootstrap5.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sz="1800"/>
              <a:t>No need to make </a:t>
            </a:r>
            <a:r>
              <a:rPr lang="en-GB" sz="18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commit</a:t>
            </a:r>
            <a:r>
              <a:rPr lang="en-GB" sz="1800"/>
              <a:t>s, and </a:t>
            </a:r>
            <a:r>
              <a:rPr lang="en-GB" sz="18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revert </a:t>
            </a:r>
            <a:r>
              <a:rPr lang="en-GB" sz="1800"/>
              <a:t>them later.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Branches</a:t>
            </a:r>
            <a:r>
              <a:rPr lang="en-GB"/>
              <a:t>:</a:t>
            </a:r>
            <a:r>
              <a:rPr lang="en-GB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/>
              <a:t>Typical Workflow</a:t>
            </a:r>
            <a:endParaRPr/>
          </a:p>
        </p:txBody>
      </p:sp>
      <p:sp>
        <p:nvSpPr>
          <p:cNvPr id="180" name="Google Shape;180;p30"/>
          <p:cNvSpPr txBox="1"/>
          <p:nvPr>
            <p:ph idx="1" type="body"/>
          </p:nvPr>
        </p:nvSpPr>
        <p:spPr>
          <a:xfrm>
            <a:off x="186450" y="1106825"/>
            <a:ext cx="5577600" cy="33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 sz="1600"/>
              <a:t>The developer creates a repository with a default </a:t>
            </a:r>
            <a:r>
              <a:rPr lang="en-GB" sz="16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main</a:t>
            </a:r>
            <a:r>
              <a:rPr lang="en-GB" sz="16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600"/>
              <a:t>branch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 sz="1600"/>
              <a:t>The developer creates a </a:t>
            </a:r>
            <a:r>
              <a:rPr lang="en-GB" sz="16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dev </a:t>
            </a:r>
            <a:r>
              <a:rPr lang="en-GB" sz="1600"/>
              <a:t>branch (as a copy of </a:t>
            </a:r>
            <a:r>
              <a:rPr lang="en-GB" sz="16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main</a:t>
            </a:r>
            <a:r>
              <a:rPr lang="en-GB" sz="1600"/>
              <a:t>) to </a:t>
            </a:r>
            <a:r>
              <a:rPr lang="en-GB" sz="1600"/>
              <a:t>develop new features.</a:t>
            </a:r>
            <a:endParaRPr sz="1600"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 sz="1600"/>
              <a:t>The developer switches to </a:t>
            </a:r>
            <a:r>
              <a:rPr lang="en-GB" sz="16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dev</a:t>
            </a:r>
            <a:r>
              <a:rPr lang="en-GB" sz="1600"/>
              <a:t>/ checks out </a:t>
            </a:r>
            <a:r>
              <a:rPr lang="en-GB" sz="16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dev</a:t>
            </a:r>
            <a:r>
              <a:rPr lang="en-GB" sz="1600"/>
              <a:t>.</a:t>
            </a:r>
            <a:endParaRPr sz="1600"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 sz="1600"/>
              <a:t>The developer creates new commits on </a:t>
            </a:r>
            <a:r>
              <a:rPr lang="en-GB" sz="16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dev</a:t>
            </a:r>
            <a:r>
              <a:rPr lang="en-GB" sz="1600"/>
              <a:t>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 sz="1600"/>
              <a:t>Then the developer switches back to </a:t>
            </a:r>
            <a:r>
              <a:rPr lang="en-GB" sz="16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main</a:t>
            </a:r>
            <a:r>
              <a:rPr lang="en-GB" sz="1600"/>
              <a:t>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 sz="1600"/>
              <a:t>They merge </a:t>
            </a:r>
            <a:r>
              <a:rPr lang="en-GB" sz="16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dev </a:t>
            </a:r>
            <a:r>
              <a:rPr b="1" lang="en-GB" sz="1600"/>
              <a:t>into </a:t>
            </a:r>
            <a:r>
              <a:rPr lang="en-GB" sz="16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main</a:t>
            </a:r>
            <a:r>
              <a:rPr lang="en-GB" sz="1600"/>
              <a:t>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 sz="1600"/>
              <a:t>Now </a:t>
            </a:r>
            <a:r>
              <a:rPr lang="en-GB" sz="16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main </a:t>
            </a:r>
            <a:r>
              <a:rPr lang="en-GB" sz="1600"/>
              <a:t>= </a:t>
            </a:r>
            <a:r>
              <a:rPr lang="en-GB" sz="16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dev </a:t>
            </a:r>
            <a:r>
              <a:rPr lang="en-GB" sz="1600"/>
              <a:t>&amp; </a:t>
            </a:r>
            <a:r>
              <a:rPr lang="en-GB" sz="16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dev </a:t>
            </a:r>
            <a:r>
              <a:rPr lang="en-GB" sz="1600"/>
              <a:t>= </a:t>
            </a:r>
            <a:r>
              <a:rPr lang="en-GB" sz="16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main</a:t>
            </a:r>
            <a:r>
              <a:rPr lang="en-GB" sz="1600"/>
              <a:t>, and the feature branch (the </a:t>
            </a:r>
            <a:r>
              <a:rPr lang="en-GB" sz="16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dev </a:t>
            </a:r>
            <a:r>
              <a:rPr lang="en-GB" sz="1600"/>
              <a:t>branch) can be deleted.</a:t>
            </a:r>
            <a:endParaRPr sz="1600"/>
          </a:p>
        </p:txBody>
      </p:sp>
      <p:sp>
        <p:nvSpPr>
          <p:cNvPr id="181" name="Google Shape;181;p30"/>
          <p:cNvSpPr txBox="1"/>
          <p:nvPr>
            <p:ph idx="1" type="body"/>
          </p:nvPr>
        </p:nvSpPr>
        <p:spPr>
          <a:xfrm>
            <a:off x="5764050" y="1175725"/>
            <a:ext cx="3068100" cy="33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 sz="16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init, config...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 sz="16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branch 'dev’</a:t>
            </a:r>
            <a:endParaRPr sz="1600"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i="1" lang="en-GB" sz="16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switch ‘dev’ </a:t>
            </a:r>
            <a:r>
              <a:rPr i="1" lang="en-GB" sz="1600"/>
              <a:t>/ </a:t>
            </a:r>
            <a:r>
              <a:rPr i="1" lang="en-GB" sz="16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checkout ‘dev’</a:t>
            </a:r>
            <a:endParaRPr i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 sz="16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add, commit</a:t>
            </a:r>
            <a:r>
              <a:rPr lang="en-GB" sz="16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...</a:t>
            </a:r>
            <a:endParaRPr sz="1600"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i="1" lang="en-GB" sz="16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switch ‘</a:t>
            </a:r>
            <a:r>
              <a:rPr lang="en-GB" sz="16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main</a:t>
            </a:r>
            <a:r>
              <a:rPr i="1" lang="en-GB" sz="16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’ </a:t>
            </a:r>
            <a:r>
              <a:rPr i="1" lang="en-GB" sz="1600"/>
              <a:t>/ </a:t>
            </a:r>
            <a:r>
              <a:rPr i="1" lang="en-GB" sz="16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checkout ‘</a:t>
            </a:r>
            <a:r>
              <a:rPr lang="en-GB" sz="16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main</a:t>
            </a:r>
            <a:r>
              <a:rPr i="1" lang="en-GB" sz="16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’</a:t>
            </a:r>
            <a:endParaRPr sz="1600"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 sz="16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</a:t>
            </a:r>
            <a:r>
              <a:rPr b="1" lang="en-GB" sz="16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merge </a:t>
            </a:r>
            <a:r>
              <a:rPr lang="en-GB" sz="16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‘dev’</a:t>
            </a:r>
            <a:endParaRPr sz="1600"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 sz="16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branch --delete ‘dev’</a:t>
            </a:r>
            <a:endParaRPr sz="1600"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Branches</a:t>
            </a:r>
            <a:r>
              <a:rPr lang="en-GB"/>
              <a:t>:</a:t>
            </a:r>
            <a:r>
              <a:rPr lang="en-GB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/>
              <a:t>Checkout?</a:t>
            </a:r>
            <a:endParaRPr/>
          </a:p>
        </p:txBody>
      </p:sp>
      <p:sp>
        <p:nvSpPr>
          <p:cNvPr id="187" name="Google Shape;187;p31"/>
          <p:cNvSpPr txBox="1"/>
          <p:nvPr>
            <p:ph idx="1" type="body"/>
          </p:nvPr>
        </p:nvSpPr>
        <p:spPr>
          <a:xfrm>
            <a:off x="409650" y="1122175"/>
            <a:ext cx="4162200" cy="36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When you </a:t>
            </a:r>
            <a:r>
              <a:rPr b="1" lang="en-GB" sz="1600"/>
              <a:t>switch from main to dev</a:t>
            </a:r>
            <a:r>
              <a:rPr lang="en-GB" sz="1600"/>
              <a:t>, </a:t>
            </a:r>
            <a:r>
              <a:rPr b="1" lang="en-GB" sz="1600"/>
              <a:t>you check out dev.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Example: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checkout dev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or (modern syntax):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switch dev</a:t>
            </a:r>
            <a:endParaRPr sz="1600"/>
          </a:p>
        </p:txBody>
      </p:sp>
      <p:sp>
        <p:nvSpPr>
          <p:cNvPr id="188" name="Google Shape;188;p31"/>
          <p:cNvSpPr txBox="1"/>
          <p:nvPr>
            <p:ph idx="1" type="body"/>
          </p:nvPr>
        </p:nvSpPr>
        <p:spPr>
          <a:xfrm>
            <a:off x="4778150" y="1122175"/>
            <a:ext cx="4162200" cy="36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What “checkout” means in plain terms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To</a:t>
            </a:r>
            <a:r>
              <a:rPr b="1" lang="en-GB" sz="1600"/>
              <a:t> check out </a:t>
            </a:r>
            <a:r>
              <a:rPr lang="en-GB" sz="1600"/>
              <a:t>a branch means: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Make that branch the current branch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Move </a:t>
            </a:r>
            <a:r>
              <a:rPr lang="en-GB" sz="16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HEAD </a:t>
            </a:r>
            <a:r>
              <a:rPr lang="en-GB" sz="1600"/>
              <a:t>to point to that branch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Update your working directory to match the new branch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So after: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checkout dev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You have: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HEAD </a:t>
            </a:r>
            <a:r>
              <a:rPr lang="en-GB" sz="1600"/>
              <a:t>→ </a:t>
            </a:r>
            <a:r>
              <a:rPr lang="en-GB" sz="16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dev </a:t>
            </a:r>
            <a:r>
              <a:rPr lang="en-GB" sz="1600"/>
              <a:t>→ latest </a:t>
            </a:r>
            <a:r>
              <a:rPr lang="en-GB" sz="16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commit </a:t>
            </a:r>
            <a:r>
              <a:rPr lang="en-GB" sz="1600"/>
              <a:t>on </a:t>
            </a:r>
            <a:r>
              <a:rPr lang="en-GB" sz="16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dev</a:t>
            </a:r>
            <a:endParaRPr sz="1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Branch</a:t>
            </a:r>
            <a:r>
              <a:rPr lang="en-GB"/>
              <a:t>:</a:t>
            </a:r>
            <a:r>
              <a:rPr lang="en-GB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/>
              <a:t>Key commands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/>
          </a:p>
        </p:txBody>
      </p:sp>
      <p:sp>
        <p:nvSpPr>
          <p:cNvPr id="194" name="Google Shape;194;p32"/>
          <p:cNvSpPr txBox="1"/>
          <p:nvPr>
            <p:ph idx="1" type="body"/>
          </p:nvPr>
        </p:nvSpPr>
        <p:spPr>
          <a:xfrm>
            <a:off x="311700" y="1152475"/>
            <a:ext cx="8324700" cy="3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branch &lt;name&gt; </a:t>
            </a:r>
            <a:r>
              <a:rPr lang="en-GB" sz="1600"/>
              <a:t>— Create a new branch with specified name.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branch -m &lt;name&gt; </a:t>
            </a:r>
            <a:r>
              <a:rPr lang="en-GB" sz="1600"/>
              <a:t>— Rename the branch </a:t>
            </a:r>
            <a:r>
              <a:rPr b="1" lang="en-GB" sz="1600"/>
              <a:t>you’re currently on </a:t>
            </a:r>
            <a:r>
              <a:rPr lang="en-GB" sz="1600"/>
              <a:t>to the specified name.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branch -a &lt;name&gt; </a:t>
            </a:r>
            <a:r>
              <a:rPr lang="en-GB" sz="1600"/>
              <a:t>— List all branches.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branch --delete &lt;name&gt; </a:t>
            </a:r>
            <a:r>
              <a:rPr lang="en-GB" sz="1600"/>
              <a:t>— Delete the branch with the specified name.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i="1" lang="en-GB" sz="16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switch </a:t>
            </a:r>
            <a:r>
              <a:rPr lang="en-GB" sz="16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&lt;name&gt;</a:t>
            </a:r>
            <a:r>
              <a:rPr i="1" lang="en-GB" sz="16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i="1" lang="en-GB" sz="1600"/>
              <a:t>/ </a:t>
            </a:r>
            <a:r>
              <a:rPr i="1" lang="en-GB" sz="16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checkout </a:t>
            </a:r>
            <a:r>
              <a:rPr lang="en-GB" sz="16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&lt;name&gt; </a:t>
            </a:r>
            <a:r>
              <a:rPr lang="en-GB" sz="1600"/>
              <a:t>— Change to the branch with specified name (make that branch the current branch).</a:t>
            </a:r>
            <a:endParaRPr sz="1600"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merge &lt;name&gt; </a:t>
            </a:r>
            <a:r>
              <a:rPr lang="en-GB" sz="1600"/>
              <a:t>— Merge the specified branch </a:t>
            </a:r>
            <a:r>
              <a:rPr b="1" lang="en-GB" sz="1600"/>
              <a:t>into your current branch.</a:t>
            </a:r>
            <a:r>
              <a:rPr lang="en-GB" sz="1600"/>
              <a:t> </a:t>
            </a:r>
            <a:endParaRPr sz="1600"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95" name="Google Shape;195;p32"/>
          <p:cNvSpPr txBox="1"/>
          <p:nvPr/>
        </p:nvSpPr>
        <p:spPr>
          <a:xfrm>
            <a:off x="0" y="3667008"/>
            <a:ext cx="4860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status</a:t>
            </a:r>
            <a:endParaRPr sz="2000"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See what’s going on (&amp; branch)</a:t>
            </a:r>
            <a:endParaRPr sz="2000"/>
          </a:p>
        </p:txBody>
      </p:sp>
      <p:sp>
        <p:nvSpPr>
          <p:cNvPr id="196" name="Google Shape;196;p32"/>
          <p:cNvSpPr txBox="1"/>
          <p:nvPr/>
        </p:nvSpPr>
        <p:spPr>
          <a:xfrm>
            <a:off x="4283100" y="3667008"/>
            <a:ext cx="4860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log </a:t>
            </a:r>
            <a:r>
              <a:rPr b="1" lang="en-GB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(</a:t>
            </a:r>
            <a:r>
              <a:rPr lang="en-GB" sz="20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--oneline</a:t>
            </a:r>
            <a:r>
              <a:rPr b="1" lang="en-GB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2000"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See commit history</a:t>
            </a:r>
            <a:endParaRPr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3"/>
          <p:cNvSpPr txBox="1"/>
          <p:nvPr>
            <p:ph idx="1" type="body"/>
          </p:nvPr>
        </p:nvSpPr>
        <p:spPr>
          <a:xfrm>
            <a:off x="311700" y="1253275"/>
            <a:ext cx="4826400" cy="37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GB" sz="1100"/>
              <a:t>Create a repository on GitHub.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GB" sz="1100"/>
              <a:t>Link local repo to remote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en-GB" sz="1100"/>
              <a:t>Always </a:t>
            </a:r>
            <a:r>
              <a:rPr lang="en-GB" sz="11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pull </a:t>
            </a:r>
            <a:r>
              <a:rPr b="1" lang="en-GB" sz="1100"/>
              <a:t>first</a:t>
            </a:r>
            <a:endParaRPr b="1"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GB" sz="1100"/>
              <a:t>Make some changes locally…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GB" sz="1100"/>
              <a:t>Then </a:t>
            </a:r>
            <a:r>
              <a:rPr lang="en-GB" sz="11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push </a:t>
            </a:r>
            <a:r>
              <a:rPr lang="en-GB" sz="1100"/>
              <a:t>your changes to </a:t>
            </a:r>
            <a:r>
              <a:rPr lang="en-GB" sz="11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remote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1" lang="en-GB" sz="1100"/>
              <a:t>Note: </a:t>
            </a:r>
            <a:r>
              <a:rPr b="1" lang="en-GB" sz="1100"/>
              <a:t>Don't forget to commit before pushing changes. </a:t>
            </a:r>
            <a:r>
              <a:rPr lang="en-GB" sz="1100"/>
              <a:t>(can’t push without </a:t>
            </a:r>
            <a:r>
              <a:rPr b="1" lang="en-GB" sz="1100"/>
              <a:t>clean working directory</a:t>
            </a:r>
            <a:r>
              <a:rPr lang="en-GB" sz="1100"/>
              <a:t>).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If you delete a file from the remote repository and then pull changes to VS Code,</a:t>
            </a:r>
            <a:r>
              <a:rPr b="1" lang="en-GB" sz="1100"/>
              <a:t> it will be deleted from your local computer as well.</a:t>
            </a:r>
            <a:endParaRPr b="1"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Pulling</a:t>
            </a:r>
            <a:r>
              <a:rPr lang="en-GB" sz="1100"/>
              <a:t>: When you (</a:t>
            </a:r>
            <a:r>
              <a:rPr lang="en-GB" sz="1100"/>
              <a:t>or</a:t>
            </a:r>
            <a:r>
              <a:rPr lang="en-GB" sz="1100"/>
              <a:t> someone else on the team) change something on the </a:t>
            </a:r>
            <a:r>
              <a:rPr lang="en-GB" sz="11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remote </a:t>
            </a:r>
            <a:r>
              <a:rPr lang="en-GB" sz="1100"/>
              <a:t>Repository, you must </a:t>
            </a:r>
            <a:r>
              <a:rPr lang="en-GB" sz="11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pull </a:t>
            </a:r>
            <a:r>
              <a:rPr lang="en-GB" sz="1100"/>
              <a:t>changes to VS Code to avoid errors.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Pushing</a:t>
            </a:r>
            <a:r>
              <a:rPr lang="en-GB" sz="1100"/>
              <a:t>: When you make changes locally, you need to </a:t>
            </a:r>
            <a:r>
              <a:rPr lang="en-GB" sz="11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push </a:t>
            </a:r>
            <a:r>
              <a:rPr lang="en-GB" sz="1100"/>
              <a:t>them to Github so </a:t>
            </a:r>
            <a:r>
              <a:rPr b="1" lang="en-GB" sz="1100"/>
              <a:t>they’re reflected on the </a:t>
            </a:r>
            <a:r>
              <a:rPr lang="en-GB" sz="11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remote </a:t>
            </a:r>
            <a:r>
              <a:rPr b="1" lang="en-GB" sz="1100"/>
              <a:t>Repository.</a:t>
            </a:r>
            <a:endParaRPr b="1" sz="1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02" name="Google Shape;202;p33"/>
          <p:cNvSpPr txBox="1"/>
          <p:nvPr>
            <p:ph type="title"/>
          </p:nvPr>
        </p:nvSpPr>
        <p:spPr>
          <a:xfrm>
            <a:off x="311700" y="445025"/>
            <a:ext cx="8520600" cy="6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/>
              <a:t>Working with Remotes: </a:t>
            </a:r>
            <a:r>
              <a:rPr lang="en-GB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push/pull</a:t>
            </a:r>
            <a:endParaRPr sz="2500"/>
          </a:p>
        </p:txBody>
      </p:sp>
      <p:sp>
        <p:nvSpPr>
          <p:cNvPr id="203" name="Google Shape;203;p33"/>
          <p:cNvSpPr txBox="1"/>
          <p:nvPr>
            <p:ph idx="1" type="body"/>
          </p:nvPr>
        </p:nvSpPr>
        <p:spPr>
          <a:xfrm>
            <a:off x="5291175" y="1253275"/>
            <a:ext cx="3578700" cy="37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GB" sz="1200"/>
              <a:t>Create a repository on GitHub.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GB" sz="12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remote add origin &lt;repo url&gt;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GB" sz="12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pull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GB" sz="1200"/>
              <a:t>(</a:t>
            </a:r>
            <a:r>
              <a:rPr lang="en-GB" sz="12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add</a:t>
            </a:r>
            <a:r>
              <a:rPr lang="en-GB" sz="1200"/>
              <a:t>,</a:t>
            </a:r>
            <a:r>
              <a:rPr lang="en-GB" sz="12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 git commit</a:t>
            </a:r>
            <a:r>
              <a:rPr lang="en-GB" sz="1200"/>
              <a:t>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GB" sz="12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push -u origin main</a:t>
            </a:r>
            <a:r>
              <a:rPr lang="en-GB" sz="1200"/>
              <a:t>)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AutoNum type="alphaLcPeriod"/>
            </a:pPr>
            <a:r>
              <a:rPr lang="en-GB" sz="1200"/>
              <a:t>Here </a:t>
            </a:r>
            <a:r>
              <a:rPr lang="en-GB" sz="12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-u </a:t>
            </a:r>
            <a:r>
              <a:rPr lang="en-GB" sz="1200"/>
              <a:t>means “set upstream”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/>
              <a:t>Set upstream </a:t>
            </a:r>
            <a:r>
              <a:rPr lang="en-GB" sz="1200"/>
              <a:t>— a tracking relationship</a:t>
            </a:r>
            <a:r>
              <a:rPr lang="en-GB" sz="1200"/>
              <a:t>: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E6E8F0"/>
                </a:solidFill>
                <a:highlight>
                  <a:srgbClr val="1F1F1F"/>
                </a:highlight>
                <a:latin typeface="Arial"/>
                <a:ea typeface="Arial"/>
                <a:cs typeface="Arial"/>
                <a:sym typeface="Arial"/>
              </a:rPr>
              <a:t>=&gt; </a:t>
            </a:r>
            <a:r>
              <a:rPr lang="en-GB" sz="1200">
                <a:solidFill>
                  <a:srgbClr val="EEF0FF"/>
                </a:solidFill>
                <a:latin typeface="Arial"/>
                <a:ea typeface="Arial"/>
                <a:cs typeface="Arial"/>
                <a:sym typeface="Arial"/>
              </a:rPr>
              <a:t>creating a link between a local branch and a remote branch</a:t>
            </a:r>
            <a:r>
              <a:rPr lang="en-GB" sz="1200">
                <a:solidFill>
                  <a:srgbClr val="E6E8F0"/>
                </a:solidFill>
                <a:highlight>
                  <a:srgbClr val="1F1F1F"/>
                </a:highlight>
                <a:latin typeface="Arial"/>
                <a:ea typeface="Arial"/>
                <a:cs typeface="Arial"/>
                <a:sym typeface="Arial"/>
              </a:rPr>
              <a:t> (like one on GitHub), so you can use simple </a:t>
            </a:r>
            <a:r>
              <a:rPr lang="en-GB" sz="12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pull </a:t>
            </a:r>
            <a:r>
              <a:rPr lang="en-GB" sz="1200">
                <a:solidFill>
                  <a:srgbClr val="E6E8F0"/>
                </a:solidFill>
                <a:highlight>
                  <a:srgbClr val="1F1F1F"/>
                </a:highlight>
                <a:latin typeface="Arial"/>
                <a:ea typeface="Arial"/>
                <a:cs typeface="Arial"/>
                <a:sym typeface="Arial"/>
              </a:rPr>
              <a:t>or </a:t>
            </a:r>
            <a:r>
              <a:rPr lang="en-GB" sz="12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push</a:t>
            </a:r>
            <a:r>
              <a:rPr lang="en-GB" sz="1200">
                <a:solidFill>
                  <a:srgbClr val="E6E8F0"/>
                </a:solidFill>
                <a:highlight>
                  <a:srgbClr val="1F1F1F"/>
                </a:highlight>
                <a:latin typeface="Arial"/>
                <a:ea typeface="Arial"/>
                <a:cs typeface="Arial"/>
                <a:sym typeface="Arial"/>
              </a:rPr>
              <a:t> commands without specifying the remote and branch every time.</a:t>
            </a:r>
            <a:endParaRPr sz="1200">
              <a:solidFill>
                <a:srgbClr val="E6E8F0"/>
              </a:solidFill>
              <a:highlight>
                <a:srgbClr val="1F1F1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origin </a:t>
            </a:r>
            <a:r>
              <a:rPr lang="en-GB" sz="1200"/>
              <a:t> — a default name for your main remote repo. You can rename or have multiple remotes if needed.</a:t>
            </a:r>
            <a:endParaRPr sz="1200"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Going through merge conflicts: </a:t>
            </a:r>
            <a:r>
              <a:rPr lang="en-GB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</a:t>
            </a:r>
            <a:r>
              <a:rPr lang="en-GB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t merge</a:t>
            </a:r>
            <a:endParaRPr/>
          </a:p>
        </p:txBody>
      </p:sp>
      <p:sp>
        <p:nvSpPr>
          <p:cNvPr id="209" name="Google Shape;209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GB" sz="1400"/>
              <a:t>M</a:t>
            </a:r>
            <a:r>
              <a:rPr b="1" lang="en-GB" sz="1400"/>
              <a:t>erge Conflict State</a:t>
            </a:r>
            <a:r>
              <a:rPr lang="en-GB" sz="1400"/>
              <a:t>: when </a:t>
            </a:r>
            <a:r>
              <a:rPr b="1" lang="en-GB" sz="1400"/>
              <a:t>project state</a:t>
            </a:r>
            <a:r>
              <a:rPr lang="en-GB" sz="1400"/>
              <a:t> differs from your local repository and remote</a:t>
            </a:r>
            <a:endParaRPr sz="1400"/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=&gt; needs to be resolved manually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>
                <a:solidFill>
                  <a:schemeClr val="accent5"/>
                </a:solidFill>
              </a:rPr>
              <a:t>VS Code</a:t>
            </a:r>
            <a:r>
              <a:rPr lang="en-GB" sz="1400"/>
              <a:t> provides convenient editor for this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Workflow: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GB" sz="1400"/>
              <a:t>Merge with </a:t>
            </a:r>
            <a:r>
              <a:rPr lang="en-GB" sz="14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merge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GB" sz="1400"/>
              <a:t>Accept/Discard Incoming/Outgoing changes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GB" sz="1400"/>
              <a:t>Recommit to finish merge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GB" sz="1400"/>
              <a:t>Git will automatically create message: </a:t>
            </a:r>
            <a:r>
              <a:rPr lang="en-GB" sz="14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Merge branch ‘dev’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diff: </a:t>
            </a:r>
            <a:r>
              <a:rPr lang="en-GB" sz="2500"/>
              <a:t>Compare between various commits</a:t>
            </a:r>
            <a:endParaRPr sz="2500"/>
          </a:p>
        </p:txBody>
      </p:sp>
      <p:sp>
        <p:nvSpPr>
          <p:cNvPr id="215" name="Google Shape;215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diff HEAD </a:t>
            </a:r>
            <a:r>
              <a:rPr lang="en-GB" sz="1600"/>
              <a:t>— allows to compare between current staged changes and the last commit you made.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Extensive </a:t>
            </a:r>
            <a:r>
              <a:rPr lang="en-GB" sz="1600">
                <a:solidFill>
                  <a:schemeClr val="accent5"/>
                </a:solidFill>
              </a:rPr>
              <a:t>VS Code</a:t>
            </a:r>
            <a:r>
              <a:rPr lang="en-GB" sz="1600"/>
              <a:t> and </a:t>
            </a:r>
            <a:r>
              <a:rPr lang="en-GB" sz="1600">
                <a:solidFill>
                  <a:schemeClr val="accent5"/>
                </a:solidFill>
              </a:rPr>
              <a:t>Git Lens </a:t>
            </a:r>
            <a:r>
              <a:rPr lang="en-GB" sz="1600"/>
              <a:t>support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Reverting changes: </a:t>
            </a:r>
            <a:r>
              <a:rPr lang="en-GB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reset</a:t>
            </a:r>
            <a:endParaRPr/>
          </a:p>
        </p:txBody>
      </p:sp>
      <p:sp>
        <p:nvSpPr>
          <p:cNvPr id="221" name="Google Shape;221;p36"/>
          <p:cNvSpPr txBox="1"/>
          <p:nvPr>
            <p:ph idx="1" type="body"/>
          </p:nvPr>
        </p:nvSpPr>
        <p:spPr>
          <a:xfrm>
            <a:off x="311700" y="1152475"/>
            <a:ext cx="5548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reset --soft HEAD~1 </a:t>
            </a:r>
            <a:r>
              <a:rPr lang="en-GB"/>
              <a:t>— undo the last </a:t>
            </a:r>
            <a:r>
              <a:rPr lang="en-GB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commit </a:t>
            </a:r>
            <a:r>
              <a:rPr lang="en-GB"/>
              <a:t>and keep your changes staged.</a:t>
            </a:r>
            <a:endParaRPr>
              <a:solidFill>
                <a:schemeClr val="accent5"/>
              </a:solidFill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with </a:t>
            </a:r>
            <a:r>
              <a:rPr lang="en-GB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--soft </a:t>
            </a:r>
            <a:r>
              <a:rPr lang="en-GB"/>
              <a:t>options you can roll back your branch to a particular commit while maintaining the changes made to the working directory and index.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=&gt; can do this natively in </a:t>
            </a:r>
            <a:r>
              <a:rPr lang="en-GB">
                <a:solidFill>
                  <a:schemeClr val="accent5"/>
                </a:solidFill>
              </a:rPr>
              <a:t>VS Code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AutoNum type="arabicPeriod"/>
            </a:pPr>
            <a:r>
              <a:rPr lang="en-GB">
                <a:solidFill>
                  <a:schemeClr val="accent5"/>
                </a:solidFill>
              </a:rPr>
              <a:t>Ctrl + Shift + P</a:t>
            </a:r>
            <a:endParaRPr>
              <a:solidFill>
                <a:schemeClr val="accent5"/>
              </a:solidFill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AutoNum type="arabicPeriod"/>
            </a:pPr>
            <a:r>
              <a:rPr lang="en-GB">
                <a:solidFill>
                  <a:schemeClr val="accent5"/>
                </a:solidFill>
              </a:rPr>
              <a:t>Undo Last Commit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There is no native </a:t>
            </a:r>
            <a:r>
              <a:rPr lang="en-GB">
                <a:solidFill>
                  <a:schemeClr val="accent5"/>
                </a:solidFill>
              </a:rPr>
              <a:t>VS Code </a:t>
            </a:r>
            <a:r>
              <a:rPr lang="en-GB"/>
              <a:t>interface for </a:t>
            </a:r>
            <a:r>
              <a:rPr lang="en-GB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reset</a:t>
            </a:r>
            <a:r>
              <a:rPr lang="en-GB"/>
              <a:t>. But you can install </a:t>
            </a:r>
            <a:r>
              <a:rPr lang="en-GB">
                <a:solidFill>
                  <a:schemeClr val="accent5"/>
                </a:solidFill>
              </a:rPr>
              <a:t>GitLens </a:t>
            </a:r>
            <a:r>
              <a:rPr lang="en-GB"/>
              <a:t>extension which has more powerful visual interface.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6"/>
          <p:cNvSpPr txBox="1"/>
          <p:nvPr/>
        </p:nvSpPr>
        <p:spPr>
          <a:xfrm>
            <a:off x="5979100" y="1152475"/>
            <a:ext cx="3000000" cy="16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Alternatively, you can reset to a particular </a:t>
            </a:r>
            <a:r>
              <a:rPr lang="en-GB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commit</a:t>
            </a: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providing its unique ID: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git reset --soft &lt;commit_id&gt;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/>
              <a:t>Sources</a:t>
            </a:r>
            <a:endParaRPr sz="2820"/>
          </a:p>
        </p:txBody>
      </p:sp>
      <p:sp>
        <p:nvSpPr>
          <p:cNvPr id="228" name="Google Shape;228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u="sng">
                <a:solidFill>
                  <a:schemeClr val="hlink"/>
                </a:solidFill>
                <a:hlinkClick r:id="rId3"/>
              </a:rPr>
              <a:t>W3Schools git materials</a:t>
            </a:r>
            <a:r>
              <a:rPr lang="en-GB"/>
              <a:t> helped me correctly phrase definitions.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Also, some of my explanations and examples are based upon my knowledge from Ray Villalobos‘s </a:t>
            </a:r>
            <a:r>
              <a:rPr lang="en-GB" u="sng">
                <a:solidFill>
                  <a:schemeClr val="hlink"/>
                </a:solidFill>
                <a:hlinkClick r:id="rId4"/>
              </a:rPr>
              <a:t>Learning Git and GitHub</a:t>
            </a:r>
            <a:r>
              <a:rPr lang="en-GB"/>
              <a:t> course.</a:t>
            </a:r>
            <a:endParaRPr/>
          </a:p>
        </p:txBody>
      </p:sp>
      <p:sp>
        <p:nvSpPr>
          <p:cNvPr id="229" name="Google Shape;229;p37"/>
          <p:cNvSpPr txBox="1"/>
          <p:nvPr>
            <p:ph idx="4294967295" type="subTitle"/>
          </p:nvPr>
        </p:nvSpPr>
        <p:spPr>
          <a:xfrm>
            <a:off x="4369200" y="3277875"/>
            <a:ext cx="4463100" cy="17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100"/>
              <a:t>@ 2025 Valerii Navalnyi</a:t>
            </a:r>
            <a:endParaRPr i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 sz="1100"/>
              <a:t>This presentation is licensed under the Creative Commons Attribution 4.0 International License (CC BY 4.0).</a:t>
            </a:r>
            <a:endParaRPr i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-GB" sz="1100"/>
              <a:t>The author asserts their moral right to be identified as the author of this work in accordance with Section 107 of the Copyright and Related Rights Act 2000.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